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3E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554480"/>
            <a:ext cx="4206240" cy="4206240"/>
          </a:xfrm>
          <a:prstGeom prst="ellipse">
            <a:avLst/>
          </a:prstGeom>
          <a:solidFill>
            <a:srgbClr val="1C4E80"/>
          </a:solidFill>
          <a:ln/>
        </p:spPr>
      </p:sp>
      <p:sp>
        <p:nvSpPr>
          <p:cNvPr id="3" name="Shape 1"/>
          <p:cNvSpPr/>
          <p:nvPr/>
        </p:nvSpPr>
        <p:spPr>
          <a:xfrm>
            <a:off x="10698480" y="4206240"/>
            <a:ext cx="3108960" cy="3108960"/>
          </a:xfrm>
          <a:prstGeom prst="ellipse">
            <a:avLst/>
          </a:prstGeom>
          <a:solidFill>
            <a:srgbClr val="12345A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777240"/>
            <a:ext cx="841248" cy="841248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7217" y="1004377"/>
            <a:ext cx="386974" cy="38697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18288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BBD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DE IMPLANTAÇÃO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40080" y="2286000"/>
            <a:ext cx="10424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Conduzir, padronizar e automatizar a</a:t>
            </a:r>
            <a:endParaRPr lang="en-US" sz="40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implantação do SIGER®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640080" y="39776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BBD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e-mail de fechamento ao encerramento — em um lugar só.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640080" y="57607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FB6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Apresentação ao usuário-chave</a:t>
            </a:r>
            <a:pPr indent="0" marL="0">
              <a:buNone/>
            </a:pPr>
            <a:r>
              <a:rPr lang="en-US" sz="1300" dirty="0">
                <a:solidFill>
                  <a:srgbClr val="9FB6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Rech Informática   ·   v1.1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QUE SERVE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acompanhamento da implantação, sem ilhas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5669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 a informação de cada cliente vive espalhada — planilhas, e-mails, documentos em pastas e datas na cabeça de cada um. O Painel reúne tudo em um cadastro por cliente que caminha sozinho pelas etapas.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6583680" y="1554480"/>
            <a:ext cx="4965192" cy="1371600"/>
          </a:xfrm>
          <a:prstGeom prst="roundRect">
            <a:avLst>
              <a:gd name="adj" fmla="val 6000"/>
            </a:avLst>
          </a:prstGeom>
          <a:solidFill>
            <a:srgbClr val="F4F8FC"/>
          </a:solidFill>
          <a:ln w="12700">
            <a:solidFill>
              <a:srgbClr val="BBD3EC"/>
            </a:solidFill>
            <a:prstDash val="solid"/>
          </a:ln>
          <a:effectLst>
            <a:outerShdw sx="100000" sy="100000" kx="0" ky="0" algn="bl" rotWithShape="0" blurRad="88900" dist="38100" dir="5400000">
              <a:srgbClr val="0B2542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0" y="196596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06133" y="2114093"/>
            <a:ext cx="252374" cy="25237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589520" y="175564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Documentos redigitados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589520" y="2157984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cliente refazia os mesmos documentos do zero.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583680" y="3127248"/>
            <a:ext cx="4965192" cy="1371600"/>
          </a:xfrm>
          <a:prstGeom prst="roundRect">
            <a:avLst>
              <a:gd name="adj" fmla="val 6000"/>
            </a:avLst>
          </a:prstGeom>
          <a:solidFill>
            <a:srgbClr val="F4F8FC"/>
          </a:solidFill>
          <a:ln w="12700">
            <a:solidFill>
              <a:srgbClr val="BBD3EC"/>
            </a:solidFill>
            <a:prstDash val="solid"/>
          </a:ln>
          <a:effectLst>
            <a:outerShdw sx="100000" sy="100000" kx="0" ky="0" algn="bl" rotWithShape="0" blurRad="88900" dist="38100" dir="5400000">
              <a:srgbClr val="0B2542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858000" y="3538728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6133" y="3686861"/>
            <a:ext cx="252374" cy="25237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589520" y="3328416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Coisas esquecidas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7589520" y="3730752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GCI, data ou consultor que ninguém lembrava de pedir.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583680" y="4700016"/>
            <a:ext cx="4965192" cy="1371600"/>
          </a:xfrm>
          <a:prstGeom prst="roundRect">
            <a:avLst>
              <a:gd name="adj" fmla="val 6000"/>
            </a:avLst>
          </a:prstGeom>
          <a:solidFill>
            <a:srgbClr val="F4F8FC"/>
          </a:solidFill>
          <a:ln w="12700">
            <a:solidFill>
              <a:srgbClr val="BBD3EC"/>
            </a:solidFill>
            <a:prstDash val="solid"/>
          </a:ln>
          <a:effectLst>
            <a:outerShdw sx="100000" sy="100000" kx="0" ky="0" algn="bl" rotWithShape="0" blurRad="88900" dist="38100" dir="5400000">
              <a:srgbClr val="0B2542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858000" y="5111496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6133" y="5259629"/>
            <a:ext cx="252374" cy="25237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7589520" y="4901184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incerto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7589520" y="530352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Ninguém sabia, em tempo real, onde cada projeto estava.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MUDA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 ×  Com o Painel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5257800" cy="4480560"/>
          </a:xfrm>
          <a:prstGeom prst="roundRect">
            <a:avLst>
              <a:gd name="adj" fmla="val 2041"/>
            </a:avLst>
          </a:prstGeom>
          <a:solidFill>
            <a:srgbClr val="FBF4F3"/>
          </a:solidFill>
          <a:ln w="12700">
            <a:solidFill>
              <a:srgbClr val="BBD3EC"/>
            </a:solidFill>
            <a:prstDash val="solid"/>
          </a:ln>
          <a:effectLst>
            <a:outerShdw sx="100000" sy="100000" kx="0" ky="0" algn="bl" rotWithShape="0" blurRad="88900" dist="38100" dir="5400000">
              <a:srgbClr val="0B2542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50976" y="1792224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109" y="1940357"/>
            <a:ext cx="252374" cy="25237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64208" y="1810512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34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024128" y="2542032"/>
            <a:ext cx="45262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um com sua planilha; status real desconhecido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Documentos redigitados a cada cliente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“Esqueci de pedir o GCI / a data / o consultor”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 de visita anotadas à mão, sujeitas a choque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Avisos e relatórios montados manualmente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245352" y="1572768"/>
            <a:ext cx="5257800" cy="4480560"/>
          </a:xfrm>
          <a:prstGeom prst="roundRect">
            <a:avLst>
              <a:gd name="adj" fmla="val 2041"/>
            </a:avLst>
          </a:prstGeom>
          <a:solidFill>
            <a:srgbClr val="F4F8FC"/>
          </a:solidFill>
          <a:ln w="12700">
            <a:solidFill>
              <a:srgbClr val="BBD3EC"/>
            </a:solidFill>
            <a:prstDash val="solid"/>
          </a:ln>
          <a:effectLst>
            <a:outerShdw sx="100000" sy="100000" kx="0" ky="0" algn="bl" rotWithShape="0" blurRad="88900" dist="38100" dir="5400000">
              <a:srgbClr val="0B2542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56248" y="1792224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4381" y="1940357"/>
            <a:ext cx="252374" cy="25237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69480" y="1810512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o Painel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6629400" y="2542032"/>
            <a:ext cx="45262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Carteira única, status por etapa, igual para todos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Documentos gerados prontos, no padrão Rech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etapa não avança sem o obrigatório — o sistema cobra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visual por dia e turno, sem conflito de agenda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E-mails e painéis automáticos, em tempo real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FUNCIONA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caminho do cliente, em 6 etapas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3392424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BBD3EC"/>
            </a:solidFill>
            <a:prstDash val="solid"/>
          </a:ln>
          <a:effectLst>
            <a:outerShdw sx="100000" sy="100000" kx="0" ky="0" algn="bl" rotWithShape="0" blurRad="88900" dist="38100" dir="5400000">
              <a:srgbClr val="0B2542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32688" y="1920240"/>
            <a:ext cx="566928" cy="566928"/>
          </a:xfrm>
          <a:prstGeom prst="ellipse">
            <a:avLst/>
          </a:prstGeom>
          <a:solidFill>
            <a:srgbClr val="163E66"/>
          </a:solidFill>
          <a:ln/>
        </p:spPr>
      </p:sp>
      <p:sp>
        <p:nvSpPr>
          <p:cNvPr id="6" name="Text 4"/>
          <p:cNvSpPr/>
          <p:nvPr/>
        </p:nvSpPr>
        <p:spPr>
          <a:xfrm>
            <a:off x="932688" y="19202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645920" y="1947672"/>
            <a:ext cx="2203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Agendamento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50976" y="2596896"/>
            <a:ext cx="27706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o GCI responsável e a data do Levantamento.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98264" y="1645920"/>
            <a:ext cx="3392424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BBD3EC"/>
            </a:solidFill>
            <a:prstDash val="solid"/>
          </a:ln>
          <a:effectLst>
            <a:outerShdw sx="100000" sy="100000" kx="0" ky="0" algn="bl" rotWithShape="0" blurRad="88900" dist="38100" dir="5400000">
              <a:srgbClr val="0B2542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90872" y="1920240"/>
            <a:ext cx="566928" cy="566928"/>
          </a:xfrm>
          <a:prstGeom prst="ellipse">
            <a:avLst/>
          </a:prstGeom>
          <a:solidFill>
            <a:srgbClr val="163E66"/>
          </a:solidFill>
          <a:ln/>
        </p:spPr>
      </p:sp>
      <p:sp>
        <p:nvSpPr>
          <p:cNvPr id="11" name="Text 9"/>
          <p:cNvSpPr/>
          <p:nvPr/>
        </p:nvSpPr>
        <p:spPr>
          <a:xfrm>
            <a:off x="4690872" y="19202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404104" y="1947672"/>
            <a:ext cx="2203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Levantamento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709160" y="2596896"/>
            <a:ext cx="27706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perguntas dos módulos são respondidas na tela.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56448" y="1645920"/>
            <a:ext cx="3392424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BBD3EC"/>
            </a:solidFill>
            <a:prstDash val="solid"/>
          </a:ln>
          <a:effectLst>
            <a:outerShdw sx="100000" sy="100000" kx="0" ky="0" algn="bl" rotWithShape="0" blurRad="88900" dist="38100" dir="5400000">
              <a:srgbClr val="0B2542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49056" y="1920240"/>
            <a:ext cx="566928" cy="566928"/>
          </a:xfrm>
          <a:prstGeom prst="ellipse">
            <a:avLst/>
          </a:prstGeom>
          <a:solidFill>
            <a:srgbClr val="163E66"/>
          </a:solidFill>
          <a:ln/>
        </p:spPr>
      </p:sp>
      <p:sp>
        <p:nvSpPr>
          <p:cNvPr id="16" name="Text 14"/>
          <p:cNvSpPr/>
          <p:nvPr/>
        </p:nvSpPr>
        <p:spPr>
          <a:xfrm>
            <a:off x="8449056" y="19202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9162288" y="1947672"/>
            <a:ext cx="2203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467344" y="2596896"/>
            <a:ext cx="27706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Gerado a partir do Levantamento, fiel ao modelo.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3794760"/>
            <a:ext cx="3392424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BBD3EC"/>
            </a:solidFill>
            <a:prstDash val="solid"/>
          </a:ln>
          <a:effectLst>
            <a:outerShdw sx="100000" sy="100000" kx="0" ky="0" algn="bl" rotWithShape="0" blurRad="88900" dist="38100" dir="5400000">
              <a:srgbClr val="0B2542">
                <a:alpha val="1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32688" y="4069080"/>
            <a:ext cx="566928" cy="566928"/>
          </a:xfrm>
          <a:prstGeom prst="ellipse">
            <a:avLst/>
          </a:prstGeom>
          <a:solidFill>
            <a:srgbClr val="163E66"/>
          </a:solidFill>
          <a:ln/>
        </p:spPr>
      </p:sp>
      <p:sp>
        <p:nvSpPr>
          <p:cNvPr id="21" name="Text 19"/>
          <p:cNvSpPr/>
          <p:nvPr/>
        </p:nvSpPr>
        <p:spPr>
          <a:xfrm>
            <a:off x="932688" y="40690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645920" y="4096512"/>
            <a:ext cx="2203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Designação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50976" y="4745736"/>
            <a:ext cx="27706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GCI distribui os consultores por módulo.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398264" y="3794760"/>
            <a:ext cx="3392424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BBD3EC"/>
            </a:solidFill>
            <a:prstDash val="solid"/>
          </a:ln>
          <a:effectLst>
            <a:outerShdw sx="100000" sy="100000" kx="0" ky="0" algn="bl" rotWithShape="0" blurRad="88900" dist="38100" dir="5400000">
              <a:srgbClr val="0B2542">
                <a:alpha val="1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90872" y="4069080"/>
            <a:ext cx="566928" cy="566928"/>
          </a:xfrm>
          <a:prstGeom prst="ellipse">
            <a:avLst/>
          </a:prstGeom>
          <a:solidFill>
            <a:srgbClr val="163E66"/>
          </a:solidFill>
          <a:ln/>
        </p:spPr>
      </p:sp>
      <p:sp>
        <p:nvSpPr>
          <p:cNvPr id="26" name="Text 24"/>
          <p:cNvSpPr/>
          <p:nvPr/>
        </p:nvSpPr>
        <p:spPr>
          <a:xfrm>
            <a:off x="4690872" y="40690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5404104" y="4096512"/>
            <a:ext cx="2203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Cronograma e Check-list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709160" y="4745736"/>
            <a:ext cx="27706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Planos montados na tela e gerados em planilha.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8156448" y="3794760"/>
            <a:ext cx="3392424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BBD3EC"/>
            </a:solidFill>
            <a:prstDash val="solid"/>
          </a:ln>
          <a:effectLst>
            <a:outerShdw sx="100000" sy="100000" kx="0" ky="0" algn="bl" rotWithShape="0" blurRad="88900" dist="38100" dir="5400000">
              <a:srgbClr val="0B2542">
                <a:alpha val="1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449056" y="4069080"/>
            <a:ext cx="566928" cy="566928"/>
          </a:xfrm>
          <a:prstGeom prst="ellipse">
            <a:avLst/>
          </a:prstGeom>
          <a:solidFill>
            <a:srgbClr val="163E66"/>
          </a:solidFill>
          <a:ln/>
        </p:spPr>
      </p:sp>
      <p:sp>
        <p:nvSpPr>
          <p:cNvPr id="31" name="Text 29"/>
          <p:cNvSpPr/>
          <p:nvPr/>
        </p:nvSpPr>
        <p:spPr>
          <a:xfrm>
            <a:off x="8449056" y="40690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9162288" y="4096512"/>
            <a:ext cx="2203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Encerramento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467344" y="4745736"/>
            <a:ext cx="27706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Termo gerado e implantação concluída.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640080" y="626364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3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Avança sozinho </a:t>
            </a:r>
            <a:pPr algn="ctr" indent="0" marL="0">
              <a:buNone/>
            </a:pPr>
            <a:r>
              <a:rPr lang="en-US" sz="13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os requisitos estão cumpridos — e </a:t>
            </a:r>
            <a:pPr algn="ctr" indent="0" marL="0">
              <a:buNone/>
            </a:pPr>
            <a:r>
              <a:rPr lang="en-US" sz="1350" b="1" dirty="0">
                <a:solidFill>
                  <a:srgbClr val="163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trava </a:t>
            </a:r>
            <a:pPr algn="ctr" indent="0" marL="0">
              <a:buNone/>
            </a:pPr>
            <a:r>
              <a:rPr lang="en-US" sz="13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falta documento ou ação obrigatória.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 QUE VOCÊ JÁ TEM  ·  1 DE 2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Cadastro, documentos e controle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5271516" cy="1993392"/>
          </a:xfrm>
          <a:prstGeom prst="roundRect">
            <a:avLst>
              <a:gd name="adj" fmla="val 4128"/>
            </a:avLst>
          </a:prstGeom>
          <a:solidFill>
            <a:srgbClr val="FFFFFF"/>
          </a:solidFill>
          <a:ln w="12700">
            <a:solidFill>
              <a:srgbClr val="BBD3EC"/>
            </a:solidFill>
            <a:prstDash val="solid"/>
          </a:ln>
          <a:effectLst>
            <a:outerShdw sx="100000" sy="100000" kx="0" ky="0" algn="bl" rotWithShape="0" blurRad="88900" dist="38100" dir="5400000">
              <a:srgbClr val="0B2542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32688" y="1938528"/>
            <a:ext cx="566928" cy="566928"/>
          </a:xfrm>
          <a:prstGeom prst="ellipse">
            <a:avLst/>
          </a:prstGeom>
          <a:solidFill>
            <a:srgbClr val="EAF1F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5759" y="2091599"/>
            <a:ext cx="260787" cy="2607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64208" y="1956816"/>
            <a:ext cx="40827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3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Tudo do cliente num lugar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950976" y="2615184"/>
            <a:ext cx="464972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 completa: dados, fase, atrasos, documentos e linha do tempo de tudo que aconteceu.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277356" y="1645920"/>
            <a:ext cx="5271516" cy="1993392"/>
          </a:xfrm>
          <a:prstGeom prst="roundRect">
            <a:avLst>
              <a:gd name="adj" fmla="val 4128"/>
            </a:avLst>
          </a:prstGeom>
          <a:solidFill>
            <a:srgbClr val="FFFFFF"/>
          </a:solidFill>
          <a:ln w="12700">
            <a:solidFill>
              <a:srgbClr val="BBD3EC"/>
            </a:solidFill>
            <a:prstDash val="solid"/>
          </a:ln>
          <a:effectLst>
            <a:outerShdw sx="100000" sy="100000" kx="0" ky="0" algn="bl" rotWithShape="0" blurRad="88900" dist="38100" dir="5400000">
              <a:srgbClr val="0B2542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69964" y="1938528"/>
            <a:ext cx="566928" cy="566928"/>
          </a:xfrm>
          <a:prstGeom prst="ellipse">
            <a:avLst/>
          </a:prstGeom>
          <a:solidFill>
            <a:srgbClr val="EAF1F8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3035" y="2091599"/>
            <a:ext cx="260787" cy="26078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01484" y="1956816"/>
            <a:ext cx="40827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3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Documentos prontos, padrão Rech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6588252" y="2615184"/>
            <a:ext cx="464972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Levantamento, Projeto, Cronograma, Check List e Termo gerados dos dados — com pré-visualização na tela.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40080" y="3959352"/>
            <a:ext cx="5271516" cy="1993392"/>
          </a:xfrm>
          <a:prstGeom prst="roundRect">
            <a:avLst>
              <a:gd name="adj" fmla="val 4128"/>
            </a:avLst>
          </a:prstGeom>
          <a:solidFill>
            <a:srgbClr val="FFFFFF"/>
          </a:solidFill>
          <a:ln w="12700">
            <a:solidFill>
              <a:srgbClr val="BBD3EC"/>
            </a:solidFill>
            <a:prstDash val="solid"/>
          </a:ln>
          <a:effectLst>
            <a:outerShdw sx="100000" sy="100000" kx="0" ky="0" algn="bl" rotWithShape="0" blurRad="88900" dist="38100" dir="5400000">
              <a:srgbClr val="0B2542">
                <a:alpha val="1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32688" y="4251960"/>
            <a:ext cx="566928" cy="566928"/>
          </a:xfrm>
          <a:prstGeom prst="ellipse">
            <a:avLst/>
          </a:prstGeom>
          <a:solidFill>
            <a:srgbClr val="EAF1F8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5759" y="4405031"/>
            <a:ext cx="260787" cy="26078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64208" y="4270248"/>
            <a:ext cx="40827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3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Nada cai no esquecimento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950976" y="4928616"/>
            <a:ext cx="464972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etapa exige o obrigatório; o sistema mostra o que falta e gera os pendentes de uma vez.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277356" y="3959352"/>
            <a:ext cx="5271516" cy="1993392"/>
          </a:xfrm>
          <a:prstGeom prst="roundRect">
            <a:avLst>
              <a:gd name="adj" fmla="val 4128"/>
            </a:avLst>
          </a:prstGeom>
          <a:solidFill>
            <a:srgbClr val="FFFFFF"/>
          </a:solidFill>
          <a:ln w="12700">
            <a:solidFill>
              <a:srgbClr val="BBD3EC"/>
            </a:solidFill>
            <a:prstDash val="solid"/>
          </a:ln>
          <a:effectLst>
            <a:outerShdw sx="100000" sy="100000" kx="0" ky="0" algn="bl" rotWithShape="0" blurRad="88900" dist="38100" dir="5400000">
              <a:srgbClr val="0B2542">
                <a:alpha val="16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569964" y="4251960"/>
            <a:ext cx="566928" cy="566928"/>
          </a:xfrm>
          <a:prstGeom prst="ellipse">
            <a:avLst/>
          </a:prstGeom>
          <a:solidFill>
            <a:srgbClr val="EAF1F8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3035" y="4405031"/>
            <a:ext cx="260787" cy="26078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01484" y="4270248"/>
            <a:ext cx="40827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3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proativos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6588252" y="4928616"/>
            <a:ext cx="464972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oficial vencido, prazo estourado, projeto parado ou em risco — sinalizados no menu e nos painéis.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 QUE VOCÊ JÁ TEM  ·  2 DE 2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Agenda, comunicação e gestão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5271516" cy="1993392"/>
          </a:xfrm>
          <a:prstGeom prst="roundRect">
            <a:avLst>
              <a:gd name="adj" fmla="val 4128"/>
            </a:avLst>
          </a:prstGeom>
          <a:solidFill>
            <a:srgbClr val="FFFFFF"/>
          </a:solidFill>
          <a:ln w="12700">
            <a:solidFill>
              <a:srgbClr val="BBD3EC"/>
            </a:solidFill>
            <a:prstDash val="solid"/>
          </a:ln>
          <a:effectLst>
            <a:outerShdw sx="100000" sy="100000" kx="0" ky="0" algn="bl" rotWithShape="0" blurRad="88900" dist="38100" dir="5400000">
              <a:srgbClr val="0B2542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32688" y="1938528"/>
            <a:ext cx="566928" cy="566928"/>
          </a:xfrm>
          <a:prstGeom prst="ellipse">
            <a:avLst/>
          </a:prstGeom>
          <a:solidFill>
            <a:srgbClr val="EAF1F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5759" y="2091599"/>
            <a:ext cx="260787" cy="2607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64208" y="1956816"/>
            <a:ext cx="40827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3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visual de visitas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950976" y="2615184"/>
            <a:ext cx="464972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Calendário por dia e turno: arraste os cartões, defina técnico e horário, controle o status de cada visita.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277356" y="1645920"/>
            <a:ext cx="5271516" cy="1993392"/>
          </a:xfrm>
          <a:prstGeom prst="roundRect">
            <a:avLst>
              <a:gd name="adj" fmla="val 4128"/>
            </a:avLst>
          </a:prstGeom>
          <a:solidFill>
            <a:srgbClr val="FFFFFF"/>
          </a:solidFill>
          <a:ln w="12700">
            <a:solidFill>
              <a:srgbClr val="BBD3EC"/>
            </a:solidFill>
            <a:prstDash val="solid"/>
          </a:ln>
          <a:effectLst>
            <a:outerShdw sx="100000" sy="100000" kx="0" ky="0" algn="bl" rotWithShape="0" blurRad="88900" dist="38100" dir="5400000">
              <a:srgbClr val="0B2542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69964" y="1938528"/>
            <a:ext cx="566928" cy="566928"/>
          </a:xfrm>
          <a:prstGeom prst="ellipse">
            <a:avLst/>
          </a:prstGeom>
          <a:solidFill>
            <a:srgbClr val="EAF1F8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3035" y="2091599"/>
            <a:ext cx="260787" cy="26078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01484" y="1956816"/>
            <a:ext cx="40827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3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Disponibilidade real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6588252" y="2615184"/>
            <a:ext cx="464972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Cruza a agenda com a ocupação dos técnicos e bloqueia choques — análise conjunta ou individual.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40080" y="3959352"/>
            <a:ext cx="5271516" cy="1993392"/>
          </a:xfrm>
          <a:prstGeom prst="roundRect">
            <a:avLst>
              <a:gd name="adj" fmla="val 4128"/>
            </a:avLst>
          </a:prstGeom>
          <a:solidFill>
            <a:srgbClr val="FFFFFF"/>
          </a:solidFill>
          <a:ln w="12700">
            <a:solidFill>
              <a:srgbClr val="BBD3EC"/>
            </a:solidFill>
            <a:prstDash val="solid"/>
          </a:ln>
          <a:effectLst>
            <a:outerShdw sx="100000" sy="100000" kx="0" ky="0" algn="bl" rotWithShape="0" blurRad="88900" dist="38100" dir="5400000">
              <a:srgbClr val="0B2542">
                <a:alpha val="1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32688" y="4251960"/>
            <a:ext cx="566928" cy="566928"/>
          </a:xfrm>
          <a:prstGeom prst="ellipse">
            <a:avLst/>
          </a:prstGeom>
          <a:solidFill>
            <a:srgbClr val="EAF1F8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5759" y="4405031"/>
            <a:ext cx="260787" cy="26078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64208" y="4270248"/>
            <a:ext cx="40827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3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Comunicação automática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950976" y="4928616"/>
            <a:ext cx="464972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E-mail a cada passo e por cliente (tudo registrado) — e o fechamento do Comercial pode abrir a ficha sozinho.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277356" y="3959352"/>
            <a:ext cx="5271516" cy="1993392"/>
          </a:xfrm>
          <a:prstGeom prst="roundRect">
            <a:avLst>
              <a:gd name="adj" fmla="val 4128"/>
            </a:avLst>
          </a:prstGeom>
          <a:solidFill>
            <a:srgbClr val="FFFFFF"/>
          </a:solidFill>
          <a:ln w="12700">
            <a:solidFill>
              <a:srgbClr val="BBD3EC"/>
            </a:solidFill>
            <a:prstDash val="solid"/>
          </a:ln>
          <a:effectLst>
            <a:outerShdw sx="100000" sy="100000" kx="0" ky="0" algn="bl" rotWithShape="0" blurRad="88900" dist="38100" dir="5400000">
              <a:srgbClr val="0B2542">
                <a:alpha val="16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569964" y="4251960"/>
            <a:ext cx="566928" cy="566928"/>
          </a:xfrm>
          <a:prstGeom prst="ellipse">
            <a:avLst/>
          </a:prstGeom>
          <a:solidFill>
            <a:srgbClr val="EAF1F8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3035" y="4405031"/>
            <a:ext cx="260787" cy="26078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01484" y="4270248"/>
            <a:ext cx="40827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3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Painéis de gestão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6588252" y="4928616"/>
            <a:ext cx="464972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Coordenação, Atividade e Monitoramento por setor — saúde, carga e próximas entregas, em tempo real.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O TIME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muda para cada papel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27632"/>
            <a:ext cx="10908792" cy="1060704"/>
          </a:xfrm>
          <a:prstGeom prst="roundRect">
            <a:avLst>
              <a:gd name="adj" fmla="val 6897"/>
            </a:avLst>
          </a:prstGeom>
          <a:solidFill>
            <a:srgbClr val="F4F8FC"/>
          </a:solidFill>
          <a:ln w="12700">
            <a:solidFill>
              <a:srgbClr val="BBD3EC"/>
            </a:solidFill>
            <a:prstDash val="solid"/>
          </a:ln>
          <a:effectLst>
            <a:outerShdw sx="100000" sy="100000" kx="0" ky="0" algn="bl" rotWithShape="0" blurRad="88900" dist="38100" dir="5400000">
              <a:srgbClr val="0B2542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50976" y="1874520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047" y="2027591"/>
            <a:ext cx="260787" cy="2607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1627632"/>
            <a:ext cx="274320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Coordenação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480560" y="1627632"/>
            <a:ext cx="6793992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da carteira inteira, alertas, designação de equipe, painéis de saúde e resumo diário.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40080" y="2798064"/>
            <a:ext cx="10908792" cy="1060704"/>
          </a:xfrm>
          <a:prstGeom prst="roundRect">
            <a:avLst>
              <a:gd name="adj" fmla="val 6897"/>
            </a:avLst>
          </a:prstGeom>
          <a:solidFill>
            <a:srgbClr val="F4F8FC"/>
          </a:solidFill>
          <a:ln w="12700">
            <a:solidFill>
              <a:srgbClr val="BBD3EC"/>
            </a:solidFill>
            <a:prstDash val="solid"/>
          </a:ln>
          <a:effectLst>
            <a:outerShdw sx="100000" sy="100000" kx="0" ky="0" algn="bl" rotWithShape="0" blurRad="88900" dist="38100" dir="5400000">
              <a:srgbClr val="0B2542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50976" y="3044952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047" y="3198023"/>
            <a:ext cx="260787" cy="26078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737360" y="2798064"/>
            <a:ext cx="274320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Setor Administrativo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480560" y="2798064"/>
            <a:ext cx="6793992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Abertura de projetos, geração de documentos, agendamento e e-mails padronizados.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40080" y="3968496"/>
            <a:ext cx="10908792" cy="1060704"/>
          </a:xfrm>
          <a:prstGeom prst="roundRect">
            <a:avLst>
              <a:gd name="adj" fmla="val 6897"/>
            </a:avLst>
          </a:prstGeom>
          <a:solidFill>
            <a:srgbClr val="F4F8FC"/>
          </a:solidFill>
          <a:ln w="12700">
            <a:solidFill>
              <a:srgbClr val="BBD3EC"/>
            </a:solidFill>
            <a:prstDash val="solid"/>
          </a:ln>
          <a:effectLst>
            <a:outerShdw sx="100000" sy="100000" kx="0" ky="0" algn="bl" rotWithShape="0" blurRad="88900" dist="38100" dir="5400000">
              <a:srgbClr val="0B2542">
                <a:alpha val="1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50976" y="4215384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047" y="4368455"/>
            <a:ext cx="260787" cy="26078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37360" y="3968496"/>
            <a:ext cx="274320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GCI (Levantamento)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4480560" y="3968496"/>
            <a:ext cx="6793992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Levantamento na tela, Projeto gerado automaticamente e designação dos consultores por módulo.</a:t>
            </a:r>
            <a:endParaRPr lang="en-US" sz="1350" dirty="0"/>
          </a:p>
        </p:txBody>
      </p:sp>
      <p:sp>
        <p:nvSpPr>
          <p:cNvPr id="19" name="Shape 14"/>
          <p:cNvSpPr/>
          <p:nvPr/>
        </p:nvSpPr>
        <p:spPr>
          <a:xfrm>
            <a:off x="640080" y="5138928"/>
            <a:ext cx="10908792" cy="1060704"/>
          </a:xfrm>
          <a:prstGeom prst="roundRect">
            <a:avLst>
              <a:gd name="adj" fmla="val 6897"/>
            </a:avLst>
          </a:prstGeom>
          <a:solidFill>
            <a:srgbClr val="F4F8FC"/>
          </a:solidFill>
          <a:ln w="12700">
            <a:solidFill>
              <a:srgbClr val="BBD3EC"/>
            </a:solidFill>
            <a:prstDash val="solid"/>
          </a:ln>
          <a:effectLst>
            <a:outerShdw sx="100000" sy="100000" kx="0" ky="0" algn="bl" rotWithShape="0" blurRad="88900" dist="38100" dir="5400000">
              <a:srgbClr val="0B2542">
                <a:alpha val="16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50976" y="5385816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4047" y="5538887"/>
            <a:ext cx="260787" cy="26078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737360" y="5138928"/>
            <a:ext cx="274320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Consultor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4480560" y="5138928"/>
            <a:ext cx="6793992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Vê só os seus projetos, recebe os avisos e edita Cronograma, Check-list e a agenda de visitas.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ENTREGUE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 ferramenta entrega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392424" cy="1993392"/>
          </a:xfrm>
          <a:prstGeom prst="roundRect">
            <a:avLst>
              <a:gd name="adj" fmla="val 4128"/>
            </a:avLst>
          </a:prstGeom>
          <a:solidFill>
            <a:srgbClr val="FFFFFF"/>
          </a:solidFill>
          <a:ln w="12700">
            <a:solidFill>
              <a:srgbClr val="BBD3EC"/>
            </a:solidFill>
            <a:prstDash val="solid"/>
          </a:ln>
          <a:effectLst>
            <a:outerShdw sx="100000" sy="100000" kx="0" ky="0" algn="bl" rotWithShape="0" blurRad="88900" dist="38100" dir="5400000">
              <a:srgbClr val="0B2542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979676" y="1965960"/>
            <a:ext cx="713232" cy="713232"/>
          </a:xfrm>
          <a:prstGeom prst="ellipse">
            <a:avLst/>
          </a:prstGeom>
          <a:solidFill>
            <a:srgbClr val="EAF1F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72249" y="2158533"/>
            <a:ext cx="328087" cy="3280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770632"/>
            <a:ext cx="3026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3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Padronização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68680" y="3136392"/>
            <a:ext cx="2935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Documentos sempre no modelo oficial.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98264" y="1691640"/>
            <a:ext cx="3392424" cy="1993392"/>
          </a:xfrm>
          <a:prstGeom prst="roundRect">
            <a:avLst>
              <a:gd name="adj" fmla="val 4128"/>
            </a:avLst>
          </a:prstGeom>
          <a:solidFill>
            <a:srgbClr val="FFFFFF"/>
          </a:solidFill>
          <a:ln w="12700">
            <a:solidFill>
              <a:srgbClr val="BBD3EC"/>
            </a:solidFill>
            <a:prstDash val="solid"/>
          </a:ln>
          <a:effectLst>
            <a:outerShdw sx="100000" sy="100000" kx="0" ky="0" algn="bl" rotWithShape="0" blurRad="88900" dist="38100" dir="5400000">
              <a:srgbClr val="0B2542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737860" y="1965960"/>
            <a:ext cx="713232" cy="713232"/>
          </a:xfrm>
          <a:prstGeom prst="ellipse">
            <a:avLst/>
          </a:prstGeom>
          <a:solidFill>
            <a:srgbClr val="EAF1F8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0433" y="2158533"/>
            <a:ext cx="328087" cy="32808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81144" y="2770632"/>
            <a:ext cx="3026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3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Velocidade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626864" y="3136392"/>
            <a:ext cx="2935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fechamento ao pacote pronto em minutos.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156448" y="1691640"/>
            <a:ext cx="3392424" cy="1993392"/>
          </a:xfrm>
          <a:prstGeom prst="roundRect">
            <a:avLst>
              <a:gd name="adj" fmla="val 4128"/>
            </a:avLst>
          </a:prstGeom>
          <a:solidFill>
            <a:srgbClr val="FFFFFF"/>
          </a:solidFill>
          <a:ln w="12700">
            <a:solidFill>
              <a:srgbClr val="BBD3EC"/>
            </a:solidFill>
            <a:prstDash val="solid"/>
          </a:ln>
          <a:effectLst>
            <a:outerShdw sx="100000" sy="100000" kx="0" ky="0" algn="bl" rotWithShape="0" blurRad="88900" dist="38100" dir="5400000">
              <a:srgbClr val="0B2542">
                <a:alpha val="1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496044" y="1965960"/>
            <a:ext cx="713232" cy="713232"/>
          </a:xfrm>
          <a:prstGeom prst="ellipse">
            <a:avLst/>
          </a:prstGeom>
          <a:solidFill>
            <a:srgbClr val="EAF1F8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88617" y="2158533"/>
            <a:ext cx="328087" cy="32808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39328" y="2770632"/>
            <a:ext cx="3026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3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Rastreabilidade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385048" y="3136392"/>
            <a:ext cx="2935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Histórico de quem fez o quê e quando.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40080" y="4005072"/>
            <a:ext cx="3392424" cy="1993392"/>
          </a:xfrm>
          <a:prstGeom prst="roundRect">
            <a:avLst>
              <a:gd name="adj" fmla="val 4128"/>
            </a:avLst>
          </a:prstGeom>
          <a:solidFill>
            <a:srgbClr val="FFFFFF"/>
          </a:solidFill>
          <a:ln w="12700">
            <a:solidFill>
              <a:srgbClr val="BBD3EC"/>
            </a:solidFill>
            <a:prstDash val="solid"/>
          </a:ln>
          <a:effectLst>
            <a:outerShdw sx="100000" sy="100000" kx="0" ky="0" algn="bl" rotWithShape="0" blurRad="88900" dist="38100" dir="5400000">
              <a:srgbClr val="0B2542">
                <a:alpha val="16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1979676" y="4279392"/>
            <a:ext cx="713232" cy="713232"/>
          </a:xfrm>
          <a:prstGeom prst="ellipse">
            <a:avLst/>
          </a:prstGeom>
          <a:solidFill>
            <a:srgbClr val="EAF1F8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72249" y="4471965"/>
            <a:ext cx="328087" cy="32808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22960" y="5084064"/>
            <a:ext cx="3026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3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Previsibilidade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868680" y="5449824"/>
            <a:ext cx="2935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Prazos visíveis, atrasos sinalizados.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4398264" y="4005072"/>
            <a:ext cx="3392424" cy="1993392"/>
          </a:xfrm>
          <a:prstGeom prst="roundRect">
            <a:avLst>
              <a:gd name="adj" fmla="val 4128"/>
            </a:avLst>
          </a:prstGeom>
          <a:solidFill>
            <a:srgbClr val="FFFFFF"/>
          </a:solidFill>
          <a:ln w="12700">
            <a:solidFill>
              <a:srgbClr val="BBD3EC"/>
            </a:solidFill>
            <a:prstDash val="solid"/>
          </a:ln>
          <a:effectLst>
            <a:outerShdw sx="100000" sy="100000" kx="0" ky="0" algn="bl" rotWithShape="0" blurRad="88900" dist="38100" dir="5400000">
              <a:srgbClr val="0B2542">
                <a:alpha val="16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5737860" y="4279392"/>
            <a:ext cx="713232" cy="713232"/>
          </a:xfrm>
          <a:prstGeom prst="ellipse">
            <a:avLst/>
          </a:prstGeom>
          <a:solidFill>
            <a:srgbClr val="EAF1F8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30433" y="4471965"/>
            <a:ext cx="328087" cy="328087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581144" y="5084064"/>
            <a:ext cx="3026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3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retrabalho</a:t>
            </a:r>
            <a:endParaRPr lang="en-US" sz="1600" dirty="0"/>
          </a:p>
        </p:txBody>
      </p:sp>
      <p:sp>
        <p:nvSpPr>
          <p:cNvPr id="28" name="Text 21"/>
          <p:cNvSpPr/>
          <p:nvPr/>
        </p:nvSpPr>
        <p:spPr>
          <a:xfrm>
            <a:off x="4626864" y="5449824"/>
            <a:ext cx="2935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Levantamento alimenta o Projeto.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8156448" y="4005072"/>
            <a:ext cx="3392424" cy="1993392"/>
          </a:xfrm>
          <a:prstGeom prst="roundRect">
            <a:avLst>
              <a:gd name="adj" fmla="val 4128"/>
            </a:avLst>
          </a:prstGeom>
          <a:solidFill>
            <a:srgbClr val="FFFFFF"/>
          </a:solidFill>
          <a:ln w="12700">
            <a:solidFill>
              <a:srgbClr val="BBD3EC"/>
            </a:solidFill>
            <a:prstDash val="solid"/>
          </a:ln>
          <a:effectLst>
            <a:outerShdw sx="100000" sy="100000" kx="0" ky="0" algn="bl" rotWithShape="0" blurRad="88900" dist="38100" dir="5400000">
              <a:srgbClr val="0B2542">
                <a:alpha val="16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9496044" y="4279392"/>
            <a:ext cx="713232" cy="713232"/>
          </a:xfrm>
          <a:prstGeom prst="ellipse">
            <a:avLst/>
          </a:prstGeom>
          <a:solidFill>
            <a:srgbClr val="EAF1F8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88617" y="4471965"/>
            <a:ext cx="328087" cy="328087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339328" y="5084064"/>
            <a:ext cx="3026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3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Governança</a:t>
            </a:r>
            <a:endParaRPr lang="en-US" sz="1600" dirty="0"/>
          </a:p>
        </p:txBody>
      </p:sp>
      <p:sp>
        <p:nvSpPr>
          <p:cNvPr id="33" name="Text 25"/>
          <p:cNvSpPr/>
          <p:nvPr/>
        </p:nvSpPr>
        <p:spPr>
          <a:xfrm>
            <a:off x="8385048" y="5449824"/>
            <a:ext cx="2935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avança com o obrigatório cumprido.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EVOLUÇÃO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ainda vem por aí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548640" cy="548640"/>
          </a:xfrm>
          <a:prstGeom prst="ellipse">
            <a:avLst/>
          </a:prstGeom>
          <a:solidFill>
            <a:srgbClr val="EAF1F8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8213" y="1720901"/>
            <a:ext cx="252374" cy="25237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1517904"/>
            <a:ext cx="100858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3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Integração SICLA / RNS   </a:t>
            </a:r>
            <a:pPr indent="0" marL="0">
              <a:buNone/>
            </a:pPr>
            <a:r>
              <a:rPr lang="en-US" sz="13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Abrir e atualizar a RNS(I) e as atividades (12/13/84) direto do Painel.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640080" y="2414016"/>
            <a:ext cx="548640" cy="548640"/>
          </a:xfrm>
          <a:prstGeom prst="ellipse">
            <a:avLst/>
          </a:prstGeom>
          <a:solidFill>
            <a:srgbClr val="EAF1F8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3" y="2562149"/>
            <a:ext cx="252374" cy="25237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17320" y="2359152"/>
            <a:ext cx="100858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3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de conversão e virada   </a:t>
            </a:r>
            <a:pPr indent="0" marL="0">
              <a:buNone/>
            </a:pPr>
            <a:r>
              <a:rPr lang="en-US" sz="13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Reconciliação de dados, testes SIT/UAT e checklist de virada como portão do go-live.</a:t>
            </a:r>
            <a:endParaRPr lang="en-US" sz="1550" dirty="0"/>
          </a:p>
        </p:txBody>
      </p:sp>
      <p:sp>
        <p:nvSpPr>
          <p:cNvPr id="10" name="Shape 6"/>
          <p:cNvSpPr/>
          <p:nvPr/>
        </p:nvSpPr>
        <p:spPr>
          <a:xfrm>
            <a:off x="640080" y="3255264"/>
            <a:ext cx="548640" cy="548640"/>
          </a:xfrm>
          <a:prstGeom prst="ellipse">
            <a:avLst/>
          </a:prstGeom>
          <a:solidFill>
            <a:srgbClr val="EAF1F8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213" y="3403397"/>
            <a:ext cx="252374" cy="25237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417320" y="3200400"/>
            <a:ext cx="100858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3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Disparadores de encerramento   </a:t>
            </a:r>
            <a:pPr indent="0" marL="0">
              <a:buNone/>
            </a:pPr>
            <a:r>
              <a:rPr lang="en-US" sz="13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Concluir o hypercare → Termo, e-mails finais e transição para manutenção.</a:t>
            </a:r>
            <a:endParaRPr lang="en-US" sz="1550" dirty="0"/>
          </a:p>
        </p:txBody>
      </p:sp>
      <p:sp>
        <p:nvSpPr>
          <p:cNvPr id="13" name="Shape 8"/>
          <p:cNvSpPr/>
          <p:nvPr/>
        </p:nvSpPr>
        <p:spPr>
          <a:xfrm>
            <a:off x="640080" y="4096512"/>
            <a:ext cx="548640" cy="548640"/>
          </a:xfrm>
          <a:prstGeom prst="ellipse">
            <a:avLst/>
          </a:prstGeom>
          <a:solidFill>
            <a:srgbClr val="EAF1F8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8213" y="4244645"/>
            <a:ext cx="252374" cy="252374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417320" y="4041648"/>
            <a:ext cx="100858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3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Copiloto do Consultor (IA)   </a:t>
            </a:r>
            <a:pPr indent="0" marL="0">
              <a:buNone/>
            </a:pPr>
            <a:r>
              <a:rPr lang="en-US" sz="13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Sugerir o próximo passo, rascunhar e-mails, redigir rotinas e apontar riscos.</a:t>
            </a:r>
            <a:endParaRPr lang="en-US" sz="1550" dirty="0"/>
          </a:p>
        </p:txBody>
      </p:sp>
      <p:sp>
        <p:nvSpPr>
          <p:cNvPr id="16" name="Shape 10"/>
          <p:cNvSpPr/>
          <p:nvPr/>
        </p:nvSpPr>
        <p:spPr>
          <a:xfrm>
            <a:off x="640080" y="4937760"/>
            <a:ext cx="548640" cy="548640"/>
          </a:xfrm>
          <a:prstGeom prst="ellipse">
            <a:avLst/>
          </a:prstGeom>
          <a:solidFill>
            <a:srgbClr val="EAF1F8"/>
          </a:solidFill>
          <a:ln/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8213" y="5085893"/>
            <a:ext cx="252374" cy="252374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417320" y="4882896"/>
            <a:ext cx="100858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3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Dossiê consolidado   </a:t>
            </a:r>
            <a:pPr indent="0" marL="0">
              <a:buNone/>
            </a:pPr>
            <a:r>
              <a:rPr lang="en-US" sz="13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Contatos/stakeholders estruturados e o panorama único por cliente.</a:t>
            </a:r>
            <a:endParaRPr lang="en-US" sz="1550" dirty="0"/>
          </a:p>
        </p:txBody>
      </p:sp>
      <p:sp>
        <p:nvSpPr>
          <p:cNvPr id="19" name="Text 12"/>
          <p:cNvSpPr/>
          <p:nvPr/>
        </p:nvSpPr>
        <p:spPr>
          <a:xfrm>
            <a:off x="640080" y="598932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Itens dependentes de acesso ao SICLA/SIGER e de chave de IA entram conforme essas liberações.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MÃOS À OBRA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começar  ·  e um roteiro de 10 min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5257800" cy="4389120"/>
          </a:xfrm>
          <a:prstGeom prst="roundRect">
            <a:avLst>
              <a:gd name="adj" fmla="val 2083"/>
            </a:avLst>
          </a:prstGeom>
          <a:solidFill>
            <a:srgbClr val="F4F8FC"/>
          </a:solidFill>
          <a:ln w="12700">
            <a:solidFill>
              <a:srgbClr val="BBD3EC"/>
            </a:solidFill>
            <a:prstDash val="solid"/>
          </a:ln>
          <a:effectLst>
            <a:outerShdw sx="100000" sy="100000" kx="0" ky="0" algn="bl" rotWithShape="0" blurRad="88900" dist="38100" dir="5400000">
              <a:srgbClr val="0B2542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05840" y="18745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3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começar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005840" y="246888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3973" y="2617013"/>
            <a:ext cx="252374" cy="25237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37360" y="242316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3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Acesse  </a:t>
            </a:r>
            <a:pPr indent="0" marL="0">
              <a:buNone/>
            </a:pPr>
            <a:r>
              <a:rPr lang="en-US" sz="12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endereço do Painel na rede interna.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1005840" y="3493008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3973" y="3641141"/>
            <a:ext cx="252374" cy="25237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737360" y="3447288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3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  </a:t>
            </a:r>
            <a:pPr indent="0" marL="0">
              <a:buNone/>
            </a:pPr>
            <a:r>
              <a:rPr lang="en-US" sz="12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seu usuário — ou faça o autocadastro (código por e-mail).</a:t>
            </a:r>
            <a:endParaRPr lang="en-US" sz="1450" dirty="0"/>
          </a:p>
        </p:txBody>
      </p:sp>
      <p:sp>
        <p:nvSpPr>
          <p:cNvPr id="12" name="Shape 8"/>
          <p:cNvSpPr/>
          <p:nvPr/>
        </p:nvSpPr>
        <p:spPr>
          <a:xfrm>
            <a:off x="1005840" y="4517136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3973" y="4665269"/>
            <a:ext cx="252374" cy="25237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737360" y="4471416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3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Abra um cliente  </a:t>
            </a:r>
            <a:pPr indent="0" marL="0">
              <a:buNone/>
            </a:pPr>
            <a:r>
              <a:rPr lang="en-US" sz="12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siga as ações sugeridas na tela. O sistema guia o resto.</a:t>
            </a:r>
            <a:endParaRPr lang="en-US" sz="1450" dirty="0"/>
          </a:p>
        </p:txBody>
      </p:sp>
      <p:sp>
        <p:nvSpPr>
          <p:cNvPr id="15" name="Shape 10"/>
          <p:cNvSpPr/>
          <p:nvPr/>
        </p:nvSpPr>
        <p:spPr>
          <a:xfrm>
            <a:off x="6245352" y="1645920"/>
            <a:ext cx="5257800" cy="4389120"/>
          </a:xfrm>
          <a:prstGeom prst="roundRect">
            <a:avLst>
              <a:gd name="adj" fmla="val 2083"/>
            </a:avLst>
          </a:prstGeom>
          <a:solidFill>
            <a:srgbClr val="163E66"/>
          </a:solidFill>
          <a:ln/>
          <a:effectLst>
            <a:outerShdw sx="100000" sy="100000" kx="0" ky="0" algn="bl" rotWithShape="0" blurRad="88900" dist="38100" dir="5400000">
              <a:srgbClr val="0B2542">
                <a:alpha val="16000"/>
              </a:srgbClr>
            </a:outerShdw>
          </a:effectLst>
        </p:spPr>
      </p:sp>
      <p:sp>
        <p:nvSpPr>
          <p:cNvPr id="16" name="Text 11"/>
          <p:cNvSpPr/>
          <p:nvPr/>
        </p:nvSpPr>
        <p:spPr>
          <a:xfrm>
            <a:off x="6611112" y="18745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Roteiro de demonstração</a:t>
            </a:r>
            <a:endParaRPr lang="en-US" sz="1800" dirty="0"/>
          </a:p>
        </p:txBody>
      </p:sp>
      <p:sp>
        <p:nvSpPr>
          <p:cNvPr id="17" name="Text 12"/>
          <p:cNvSpPr/>
          <p:nvPr/>
        </p:nvSpPr>
        <p:spPr>
          <a:xfrm>
            <a:off x="6702552" y="2468880"/>
            <a:ext cx="45720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DCE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Home: indicadores e pendências do dia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DCE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Abrir um cliente: fase e o que falta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DCE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Levantamento → gerar o Projeto → pré-visualizar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DCE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Designar consultores (e-mail automático)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DCE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Agenda: arrastar cartão, técnico, status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DCE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Disponibilidade: um dia bloqueado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DCE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Monitoramento: visão executiva por setor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63E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023360"/>
            <a:ext cx="4023360" cy="4023360"/>
          </a:xfrm>
          <a:prstGeom prst="ellipse">
            <a:avLst/>
          </a:prstGeom>
          <a:solidFill>
            <a:srgbClr val="1C4E80"/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-1371600"/>
            <a:ext cx="3474720" cy="3474720"/>
          </a:xfrm>
          <a:prstGeom prst="ellipse">
            <a:avLst/>
          </a:prstGeom>
          <a:solidFill>
            <a:srgbClr val="12345A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554480"/>
            <a:ext cx="868680" cy="86868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4624" y="1789024"/>
            <a:ext cx="399593" cy="39959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2697480"/>
            <a:ext cx="10607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lugar só para conduzir a</a:t>
            </a:r>
            <a:endParaRPr lang="en-US" sz="3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implantação — do começo ao fim.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640080" y="42976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BBD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visão, mais padrão, menos retrabalho.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40080" y="585216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6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Dúvidas, sugestões ou novos recursos → Coordenação da Implantação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Painel de Implantação — Apresentação</dc:title>
  <dc:subject>PptxGenJS Presentation</dc:subject>
  <dc:creator>Rech Informática</dc:creator>
  <cp:lastModifiedBy>Rech Informática</cp:lastModifiedBy>
  <cp:revision>1</cp:revision>
  <dcterms:created xsi:type="dcterms:W3CDTF">2026-06-29T12:18:57Z</dcterms:created>
  <dcterms:modified xsi:type="dcterms:W3CDTF">2026-06-29T12:18:57Z</dcterms:modified>
</cp:coreProperties>
</file>